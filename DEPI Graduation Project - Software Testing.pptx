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8F126F-525F-4CC5-843C-3C851916864D}">
  <a:tblStyle styleId="{018F126F-525F-4CC5-843C-3C85191686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40" y="-7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5300" y="1729828"/>
            <a:ext cx="11201400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Capstone Project: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Software QA Automation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478559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DEPI Software Tester Track | Graduation Project 2026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619750" y="4129980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132681" y="4703909"/>
            <a:ext cx="3926638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Team: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Ayman • Abdelrahman • Salma • Maryam</a:t>
            </a:r>
            <a:endParaRPr dirty="0"/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555568BE-691F-1CC3-ED16-44C425144B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89845"/>
            <a:ext cx="5095875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09750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0325" y="1809750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26525" y="1809750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2864941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80325" y="2864941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26525" y="2864941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34125" y="3920132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080325" y="3920132"/>
            <a:ext cx="1603325" cy="91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26525" y="3920132"/>
            <a:ext cx="1603325" cy="91231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14287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ISTQB Principles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334125" y="1428750"/>
            <a:ext cx="535066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9 Pillars of Test Objectives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189547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Testing shows presence of defects.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231264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 testing saves time and money.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762000" y="272980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Defect clustering &amp; Pareto Principle.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952500" y="3480345"/>
            <a:ext cx="4714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Reduce risk and ensure the system works as the customer requested.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454061" y="1962150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Evaluate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486525" y="2247900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Work products (Reqs, Code)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00262" y="1962150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Trigger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232725" y="2247900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Cause failures/find defects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946462" y="1962150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Cover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978925" y="2247900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Ensure required coverage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454061" y="3017341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Mitigate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486525" y="3303091"/>
            <a:ext cx="1298525" cy="160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 quality risks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200262" y="3017341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Verify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232725" y="3303091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Confirm requirements met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946462" y="3017341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Validate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9978925" y="3303091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Check stakeholder needs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454061" y="4072532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Comply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486525" y="4358282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Legal &amp; Contractual proof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200262" y="4072532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Inform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232725" y="4358282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for decision making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946462" y="4072532"/>
            <a:ext cx="13634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Trust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9978925" y="4358282"/>
            <a:ext cx="1298525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confidence in quality</a:t>
            </a:r>
            <a:endParaRPr/>
          </a:p>
        </p:txBody>
      </p:sp>
      <p:pic>
        <p:nvPicPr>
          <p:cNvPr id="130" name="Google Shape;130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2122" y="19977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2122" y="24149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2122" y="283207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TESTING FOUNDATIONS &amp; OBJECTIVES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C6A17CB8-A331-4404-D183-B60940B18201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762000" y="14287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Testing Throughout SDLC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62000" y="1704975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Testing is a continuous activity, not a final phase. It starts from Requirement Analysis using Static techniques.</a:t>
            </a:r>
            <a:endParaRPr/>
          </a:p>
        </p:txBody>
      </p:sp>
      <p:pic>
        <p:nvPicPr>
          <p:cNvPr id="143" name="Google Shape;14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0562" y="180975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6334125" y="314325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Continuous Quality Feedback Loop</a:t>
            </a:r>
            <a:endParaRPr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444055"/>
            <a:ext cx="1123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1200" y="2444055"/>
            <a:ext cx="14192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857250" y="294653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48" name="Google Shape;148;p15"/>
          <p:cNvSpPr txBox="1"/>
          <p:nvPr/>
        </p:nvSpPr>
        <p:spPr>
          <a:xfrm>
            <a:off x="952500" y="28726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Analysis: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Boundary Value Analysis.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57250" y="322083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52500" y="314697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Tooling: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Jira for Bug Lifecycle management.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INTEGRATED TESTING STRATEGY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8CDD1D1D-6A78-86A6-4D53-840F24FEF5A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4" y="1155121"/>
            <a:ext cx="509587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762000" y="14287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Why Manual First?</a:t>
            </a:r>
            <a:endParaRPr dirty="0"/>
          </a:p>
        </p:txBody>
      </p:sp>
      <p:sp>
        <p:nvSpPr>
          <p:cNvPr id="161" name="Google Shape;161;p16"/>
          <p:cNvSpPr txBox="1"/>
          <p:nvPr/>
        </p:nvSpPr>
        <p:spPr>
          <a:xfrm>
            <a:off x="762000" y="170497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Fundamental for new features and exploratory testing.</a:t>
            </a:r>
            <a:endParaRPr dirty="0"/>
          </a:p>
        </p:txBody>
      </p:sp>
      <p:sp>
        <p:nvSpPr>
          <p:cNvPr id="162" name="Google Shape;162;p16"/>
          <p:cNvSpPr txBox="1"/>
          <p:nvPr/>
        </p:nvSpPr>
        <p:spPr>
          <a:xfrm>
            <a:off x="6588918" y="1458819"/>
            <a:ext cx="452437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404" b="1">
                <a:solidFill>
                  <a:srgbClr val="1E3A8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sym typeface="Lato"/>
              </a:rPr>
              <a:t>When to use:</a:t>
            </a:r>
            <a:endParaRPr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6588917" y="1722986"/>
            <a:ext cx="452437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0000"/>
              </a:lnSpc>
              <a:buNone/>
              <a:defRPr sz="1350">
                <a:solidFill>
                  <a:srgbClr val="334155"/>
                </a:solidFill>
                <a:latin typeface="Lato"/>
                <a:ea typeface="Lato"/>
                <a:cs typeface="Lato"/>
              </a:defRPr>
            </a:lvl1pPr>
          </a:lstStyle>
          <a:p>
            <a:r>
              <a:rPr lang="en-US" dirty="0">
                <a:sym typeface="Lato"/>
              </a:rPr>
              <a:t> • Early project stages.</a:t>
            </a:r>
            <a:br>
              <a:rPr lang="en-US" dirty="0">
                <a:sym typeface="Calibri"/>
              </a:rPr>
            </a:br>
            <a:r>
              <a:rPr lang="en-US" dirty="0">
                <a:sym typeface="Lato"/>
              </a:rPr>
              <a:t> • Unstable UI / Frequent changes.</a:t>
            </a:r>
            <a:br>
              <a:rPr lang="en-US" dirty="0">
                <a:sym typeface="Calibri"/>
              </a:rPr>
            </a:br>
            <a:r>
              <a:rPr lang="en-US" dirty="0">
                <a:sym typeface="Lato"/>
              </a:rPr>
              <a:t> • Ad-hoc or one-time scenarios.</a:t>
            </a:r>
            <a:endParaRPr dirty="0"/>
          </a:p>
        </p:txBody>
      </p:sp>
      <p:sp>
        <p:nvSpPr>
          <p:cNvPr id="164" name="Google Shape;164;p16"/>
          <p:cNvSpPr txBox="1"/>
          <p:nvPr/>
        </p:nvSpPr>
        <p:spPr>
          <a:xfrm>
            <a:off x="761999" y="2169589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 User Perspective (UX).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762000" y="2586930"/>
            <a:ext cx="50958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Exploratory Discovery.</a:t>
            </a:r>
            <a:endParaRPr dirty="0"/>
          </a:p>
        </p:txBody>
      </p:sp>
      <p:sp>
        <p:nvSpPr>
          <p:cNvPr id="166" name="Google Shape;166;p16"/>
          <p:cNvSpPr txBox="1"/>
          <p:nvPr/>
        </p:nvSpPr>
        <p:spPr>
          <a:xfrm>
            <a:off x="800100" y="3004095"/>
            <a:ext cx="50958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 Low Setup Cost for small suites.</a:t>
            </a:r>
            <a:endParaRPr dirty="0"/>
          </a:p>
        </p:txBody>
      </p:sp>
      <p:pic>
        <p:nvPicPr>
          <p:cNvPr id="167" name="Google Shape;16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435" y="226371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8748" y="26808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106361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MANUAL TESTING STRATEGY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CCF6D1A1-B7D0-CC7E-7C37-EAC43E5195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987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5562" y="1809750"/>
            <a:ext cx="14287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762000" y="314325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Precision &amp; Efficiency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334125" y="14287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Why Automate?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334125" y="170497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Scale the testing process for stability and high-speed delivery.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334125" y="2169765"/>
            <a:ext cx="50958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 Fast Regression cycles.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6334125" y="2586930"/>
            <a:ext cx="50958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 Repeatable without human error.</a:t>
            </a:r>
            <a:endParaRPr dirty="0"/>
          </a:p>
        </p:txBody>
      </p:sp>
      <p:sp>
        <p:nvSpPr>
          <p:cNvPr id="184" name="Google Shape;184;p17"/>
          <p:cNvSpPr txBox="1"/>
          <p:nvPr/>
        </p:nvSpPr>
        <p:spPr>
          <a:xfrm>
            <a:off x="6334125" y="3004095"/>
            <a:ext cx="50958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 Smoke &amp; Sanity Stability.</a:t>
            </a:r>
            <a:endParaRPr dirty="0"/>
          </a:p>
        </p:txBody>
      </p:sp>
      <p:pic>
        <p:nvPicPr>
          <p:cNvPr id="185" name="Google Shape;18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7203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5812" y="26808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10636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AUTOMATION TESTING GOALS</a:t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420F1C6E-AAD6-8130-B48D-089679DF11B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18"/>
          <p:cNvGraphicFramePr/>
          <p:nvPr>
            <p:extLst>
              <p:ext uri="{D42A27DB-BD31-4B8C-83A1-F6EECF244321}">
                <p14:modId xmlns:p14="http://schemas.microsoft.com/office/powerpoint/2010/main" val="3204047697"/>
              </p:ext>
            </p:extLst>
          </p:nvPr>
        </p:nvGraphicFramePr>
        <p:xfrm>
          <a:off x="762000" y="1619250"/>
          <a:ext cx="10668000" cy="2371750"/>
        </p:xfrm>
        <a:graphic>
          <a:graphicData uri="http://schemas.openxmlformats.org/drawingml/2006/table">
            <a:tbl>
              <a:tblPr firstRow="1" bandRow="1">
                <a:noFill/>
                <a:tableStyleId>{018F126F-525F-4CC5-843C-3C851916864D}</a:tableStyleId>
              </a:tblPr>
              <a:tblGrid>
                <a:gridCol w="283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Testing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Automation Testing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Execution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Slow / Time Consuming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 / Parallel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Reliability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Human Error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Precision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initial setup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setup cost / ROI later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Suitability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Exploratory / UX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Regression / Stable Features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7" name="Google Shape;197;p18"/>
          <p:cNvSpPr/>
          <p:nvPr/>
        </p:nvSpPr>
        <p:spPr>
          <a:xfrm>
            <a:off x="762000" y="2547937"/>
            <a:ext cx="28321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594199" y="2547937"/>
            <a:ext cx="3606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7200453" y="2547937"/>
            <a:ext cx="4229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62000" y="3024187"/>
            <a:ext cx="28321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594199" y="3024187"/>
            <a:ext cx="3606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7200453" y="3024187"/>
            <a:ext cx="4229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62000" y="3500437"/>
            <a:ext cx="28321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594199" y="3500437"/>
            <a:ext cx="3606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7200453" y="3500437"/>
            <a:ext cx="4229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762000" y="3976687"/>
            <a:ext cx="28321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594199" y="3976687"/>
            <a:ext cx="3606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7200453" y="3976687"/>
            <a:ext cx="4229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MANUAL VS. AUTOMATION</a:t>
            </a:r>
            <a:endParaRPr dirty="0"/>
          </a:p>
        </p:txBody>
      </p:sp>
      <p:sp>
        <p:nvSpPr>
          <p:cNvPr id="212" name="Google Shape;212;p18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734410D5-3913-75BC-D70E-E800F81CD4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5600" y="1028700"/>
            <a:ext cx="4333875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444055"/>
            <a:ext cx="250031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57562" y="2444055"/>
            <a:ext cx="250031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006030"/>
            <a:ext cx="250031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57562" y="3006030"/>
            <a:ext cx="2500312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762000" y="14287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Electronics Store Domain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762000" y="1704975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E-commerce platform specialized in high-tech products like MacBooks, Cameras, and Components.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UNDER TEST: OPENCART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E4F362-4E60-8F92-FE66-BBD4B32229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3132" y="1119632"/>
            <a:ext cx="4137860" cy="4428236"/>
          </a:xfrm>
          <a:prstGeom prst="rect">
            <a:avLst/>
          </a:prstGeom>
        </p:spPr>
      </p:pic>
      <p:pic>
        <p:nvPicPr>
          <p:cNvPr id="4" name="Google Shape;219;p19" descr="image.png">
            <a:extLst>
              <a:ext uri="{FF2B5EF4-FFF2-40B4-BE49-F238E27FC236}">
                <a16:creationId xmlns:a16="http://schemas.microsoft.com/office/drawing/2014/main" id="{F10BBE06-545B-C804-53DF-80C921F536B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75746"/>
            <a:ext cx="250031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0;p19" descr="image.png">
            <a:extLst>
              <a:ext uri="{FF2B5EF4-FFF2-40B4-BE49-F238E27FC236}">
                <a16:creationId xmlns:a16="http://schemas.microsoft.com/office/drawing/2014/main" id="{369EF763-BDFA-7FB8-EC46-B9995D1FF77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57562" y="3575746"/>
            <a:ext cx="250031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1;p19" descr="image.png">
            <a:extLst>
              <a:ext uri="{FF2B5EF4-FFF2-40B4-BE49-F238E27FC236}">
                <a16:creationId xmlns:a16="http://schemas.microsoft.com/office/drawing/2014/main" id="{3C0BE5A6-46CD-1ABF-746E-A0A33216CF7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37721"/>
            <a:ext cx="250031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2;p19" descr="image.png">
            <a:extLst>
              <a:ext uri="{FF2B5EF4-FFF2-40B4-BE49-F238E27FC236}">
                <a16:creationId xmlns:a16="http://schemas.microsoft.com/office/drawing/2014/main" id="{A1FACDC7-59CD-6297-AECB-0F44325D7AF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57562" y="4137721"/>
            <a:ext cx="250031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D72398-67D5-8E79-8905-70A36D449E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246" y="2428703"/>
            <a:ext cx="5445754" cy="3310672"/>
          </a:xfrm>
          <a:prstGeom prst="rect">
            <a:avLst/>
          </a:prstGeom>
        </p:spPr>
      </p:pic>
      <p:pic>
        <p:nvPicPr>
          <p:cNvPr id="10" name="Google Shape;334;p25" descr="image.png">
            <a:extLst>
              <a:ext uri="{FF2B5EF4-FFF2-40B4-BE49-F238E27FC236}">
                <a16:creationId xmlns:a16="http://schemas.microsoft.com/office/drawing/2014/main" id="{40B718EF-2178-5665-4C41-23ED73CB937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762000" y="20002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Tools &amp; Design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2276475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Implemented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Page Object Model (POM)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modularity and easy maintenance.</a:t>
            </a:r>
            <a:endParaRPr/>
          </a:p>
        </p:txBody>
      </p:sp>
      <p:pic>
        <p:nvPicPr>
          <p:cNvPr id="243" name="Google Shape;24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2875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200" y="14287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1650" y="1428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666750" y="3014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62000" y="301555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Language: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Java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66750" y="328889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62000" y="328984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Library: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Selenium WebDriver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66750" y="35631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762000" y="356413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Framework: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TestNG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66750" y="383747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762000" y="3838426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Tool: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Maven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AUTOMATION STACK &amp; PATTERN</a:t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2F62F-925A-39EE-5AE5-C82C21B785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3811" y="1206555"/>
            <a:ext cx="5392530" cy="4164676"/>
          </a:xfrm>
          <a:prstGeom prst="rect">
            <a:avLst/>
          </a:prstGeom>
        </p:spPr>
      </p:pic>
      <p:pic>
        <p:nvPicPr>
          <p:cNvPr id="4" name="Google Shape;334;p25" descr="image.png">
            <a:extLst>
              <a:ext uri="{FF2B5EF4-FFF2-40B4-BE49-F238E27FC236}">
                <a16:creationId xmlns:a16="http://schemas.microsoft.com/office/drawing/2014/main" id="{62D99124-7FFF-907E-A2DD-8E1E4E5478A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28750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43827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>
            <a:off x="6334125" y="1428750"/>
            <a:ext cx="5095875" cy="655290"/>
          </a:xfrm>
          <a:prstGeom prst="roundRect">
            <a:avLst>
              <a:gd name="adj" fmla="val 1453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524625" y="1619250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Base Class: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WebDriver setup/teardown &amp; Annotations.</a:t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6334125" y="1428750"/>
            <a:ext cx="47625" cy="6552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6334125" y="2226915"/>
            <a:ext cx="5095875" cy="655290"/>
          </a:xfrm>
          <a:prstGeom prst="roundRect">
            <a:avLst>
              <a:gd name="adj" fmla="val 1453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524625" y="2417415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Pages Package: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Locators &amp; Actions (Home, Login, Cart).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6334125" y="2226915"/>
            <a:ext cx="47625" cy="6552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6334125" y="3025080"/>
            <a:ext cx="5095875" cy="655290"/>
          </a:xfrm>
          <a:prstGeom prst="roundRect">
            <a:avLst>
              <a:gd name="adj" fmla="val 14535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524625" y="3215580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Tests Package: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TestNG Cases (E2E Scenarios).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6334125" y="3025080"/>
            <a:ext cx="47625" cy="6552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FRAMEWORK ARCHITECTURE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CD2D83F5-24B4-37A2-95E5-59ACE506BD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762000" y="14287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Explicit Wait Solution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762000" y="1704975"/>
            <a:ext cx="50958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Synchronization issues often lead to flaky tests. We avoided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Thread.sleep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().</a:t>
            </a:r>
            <a:endParaRPr b="1" dirty="0"/>
          </a:p>
        </p:txBody>
      </p:sp>
      <p:pic>
        <p:nvPicPr>
          <p:cNvPr id="283" name="Google Shape;28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96312" y="3244155"/>
            <a:ext cx="571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7967661" y="4196655"/>
            <a:ext cx="198267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Synchronized Execution</a:t>
            </a:r>
            <a:endParaRPr dirty="0"/>
          </a:p>
        </p:txBody>
      </p:sp>
      <p:sp>
        <p:nvSpPr>
          <p:cNvPr id="285" name="Google Shape;285;p22"/>
          <p:cNvSpPr txBox="1"/>
          <p:nvPr/>
        </p:nvSpPr>
        <p:spPr>
          <a:xfrm>
            <a:off x="870063" y="251318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Explicit Waits: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Dynamic wait for specific elements.</a:t>
            </a:r>
            <a:endParaRPr dirty="0"/>
          </a:p>
        </p:txBody>
      </p:sp>
      <p:sp>
        <p:nvSpPr>
          <p:cNvPr id="286" name="Google Shape;286;p22"/>
          <p:cNvSpPr txBox="1"/>
          <p:nvPr/>
        </p:nvSpPr>
        <p:spPr>
          <a:xfrm>
            <a:off x="870063" y="2973001"/>
            <a:ext cx="50958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Wait until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elementToBeClickable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dirty="0"/>
          </a:p>
        </p:txBody>
      </p:sp>
      <p:pic>
        <p:nvPicPr>
          <p:cNvPr id="287" name="Google Shape;28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0314" y="26140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079518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HANDLING FLAKINESS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34;p25" descr="image.png">
            <a:extLst>
              <a:ext uri="{FF2B5EF4-FFF2-40B4-BE49-F238E27FC236}">
                <a16:creationId xmlns:a16="http://schemas.microsoft.com/office/drawing/2014/main" id="{BC3A224C-E4D1-5E53-7F8D-093AFDA4ABD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28750"/>
            <a:ext cx="5095875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28750"/>
            <a:ext cx="509587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1047750" y="1714500"/>
            <a:ext cx="47505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Hard Assertions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1047750" y="1990725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Stops the test immediately on failure. Best for critical steps.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047750" y="2360265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Assert.assertEquals(actual, expected);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619875" y="1714500"/>
            <a:ext cx="47505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Soft Assertions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619875" y="1990725"/>
            <a:ext cx="4524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Continues execution even if failure occurs. Best for multiple UI checks.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619875" y="2634555"/>
            <a:ext cx="4524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softAssert.assertAll();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VALIDATION STRATEGIES</a:t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334;p25" descr="image.png">
            <a:extLst>
              <a:ext uri="{FF2B5EF4-FFF2-40B4-BE49-F238E27FC236}">
                <a16:creationId xmlns:a16="http://schemas.microsoft.com/office/drawing/2014/main" id="{AA96557D-97B6-AAE0-191E-32775114DDA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28750"/>
            <a:ext cx="10668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617171"/>
            <a:ext cx="10668000" cy="579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52712" y="267072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05912" y="267072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 txBox="1"/>
          <p:nvPr/>
        </p:nvSpPr>
        <p:spPr>
          <a:xfrm>
            <a:off x="914400" y="4711380"/>
            <a:ext cx="10363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Verified "Success: You have added MacBook to your shopping cart!"</a:t>
            </a:r>
            <a:endParaRPr/>
          </a:p>
        </p:txBody>
      </p:sp>
      <p:pic>
        <p:nvPicPr>
          <p:cNvPr id="319" name="Google Shape;31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4412" y="23717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952500" y="2847975"/>
            <a:ext cx="504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Search</a:t>
            </a:r>
            <a:endParaRPr/>
          </a:p>
        </p:txBody>
      </p:sp>
      <p:pic>
        <p:nvPicPr>
          <p:cNvPr id="321" name="Google Shape;32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57662" y="23717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3943350" y="2847975"/>
            <a:ext cx="857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 to Cart</a:t>
            </a:r>
            <a:endParaRPr/>
          </a:p>
        </p:txBody>
      </p:sp>
      <p:pic>
        <p:nvPicPr>
          <p:cNvPr id="323" name="Google Shape;323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81887" y="23717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7286625" y="2847975"/>
            <a:ext cx="723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Assertion</a:t>
            </a:r>
            <a:endParaRPr/>
          </a:p>
        </p:txBody>
      </p:sp>
      <p:pic>
        <p:nvPicPr>
          <p:cNvPr id="325" name="Google Shape;325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77525" y="23717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10496550" y="2847975"/>
            <a:ext cx="74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Teardown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END-TO-END SCENARIO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7620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73;p23" descr="image.png">
            <a:extLst>
              <a:ext uri="{FF2B5EF4-FFF2-40B4-BE49-F238E27FC236}">
                <a16:creationId xmlns:a16="http://schemas.microsoft.com/office/drawing/2014/main" id="{4602A4DF-E3CC-91EC-6123-46A6B84D891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2209800"/>
            <a:ext cx="234687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74;p23" descr="image.png">
            <a:extLst>
              <a:ext uri="{FF2B5EF4-FFF2-40B4-BE49-F238E27FC236}">
                <a16:creationId xmlns:a16="http://schemas.microsoft.com/office/drawing/2014/main" id="{A874D389-F9EC-38E4-D7DA-D84B7675943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35709" y="2209800"/>
            <a:ext cx="234687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75;p23" descr="image.png">
            <a:extLst>
              <a:ext uri="{FF2B5EF4-FFF2-40B4-BE49-F238E27FC236}">
                <a16:creationId xmlns:a16="http://schemas.microsoft.com/office/drawing/2014/main" id="{DD869BEE-BC00-A030-9F7B-ADE5BEE5230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09419" y="2209800"/>
            <a:ext cx="234687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76;p23" descr="image.png">
            <a:extLst>
              <a:ext uri="{FF2B5EF4-FFF2-40B4-BE49-F238E27FC236}">
                <a16:creationId xmlns:a16="http://schemas.microsoft.com/office/drawing/2014/main" id="{32758BAC-7607-A962-467C-D77781A5AA6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83129" y="2209800"/>
            <a:ext cx="2346870" cy="206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79;p23" descr="image.png">
            <a:extLst>
              <a:ext uri="{FF2B5EF4-FFF2-40B4-BE49-F238E27FC236}">
                <a16:creationId xmlns:a16="http://schemas.microsoft.com/office/drawing/2014/main" id="{3A5423DD-C4A8-FD3D-4579-2D37F8F18C5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21060" y="242887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80;p23">
            <a:extLst>
              <a:ext uri="{FF2B5EF4-FFF2-40B4-BE49-F238E27FC236}">
                <a16:creationId xmlns:a16="http://schemas.microsoft.com/office/drawing/2014/main" id="{FE9B3215-A735-193B-4EEF-EAD993254C11}"/>
              </a:ext>
            </a:extLst>
          </p:cNvPr>
          <p:cNvSpPr txBox="1"/>
          <p:nvPr/>
        </p:nvSpPr>
        <p:spPr>
          <a:xfrm>
            <a:off x="933356" y="2828925"/>
            <a:ext cx="20041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Product Details</a:t>
            </a:r>
            <a:endParaRPr/>
          </a:p>
        </p:txBody>
      </p:sp>
      <p:sp>
        <p:nvSpPr>
          <p:cNvPr id="9" name="Google Shape;281;p23">
            <a:extLst>
              <a:ext uri="{FF2B5EF4-FFF2-40B4-BE49-F238E27FC236}">
                <a16:creationId xmlns:a16="http://schemas.microsoft.com/office/drawing/2014/main" id="{06656980-F529-4DBC-2D01-ED50429EA782}"/>
              </a:ext>
            </a:extLst>
          </p:cNvPr>
          <p:cNvSpPr txBox="1"/>
          <p:nvPr/>
        </p:nvSpPr>
        <p:spPr>
          <a:xfrm>
            <a:off x="981075" y="3257550"/>
            <a:ext cx="19087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Verify MacBook specs &amp; price</a:t>
            </a:r>
            <a:endParaRPr/>
          </a:p>
        </p:txBody>
      </p:sp>
      <p:pic>
        <p:nvPicPr>
          <p:cNvPr id="10" name="Google Shape;282;p23" descr="image.png">
            <a:extLst>
              <a:ext uri="{FF2B5EF4-FFF2-40B4-BE49-F238E27FC236}">
                <a16:creationId xmlns:a16="http://schemas.microsoft.com/office/drawing/2014/main" id="{8D685AB2-64A4-EA02-DE2C-93160C064C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37620" y="242887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3;p23">
            <a:extLst>
              <a:ext uri="{FF2B5EF4-FFF2-40B4-BE49-F238E27FC236}">
                <a16:creationId xmlns:a16="http://schemas.microsoft.com/office/drawing/2014/main" id="{927F8A79-4406-EFA5-B70D-5E2F9CE801EB}"/>
              </a:ext>
            </a:extLst>
          </p:cNvPr>
          <p:cNvSpPr txBox="1"/>
          <p:nvPr/>
        </p:nvSpPr>
        <p:spPr>
          <a:xfrm>
            <a:off x="3707066" y="2828925"/>
            <a:ext cx="20041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Add to Cart</a:t>
            </a:r>
            <a:endParaRPr/>
          </a:p>
        </p:txBody>
      </p:sp>
      <p:sp>
        <p:nvSpPr>
          <p:cNvPr id="12" name="Google Shape;284;p23">
            <a:extLst>
              <a:ext uri="{FF2B5EF4-FFF2-40B4-BE49-F238E27FC236}">
                <a16:creationId xmlns:a16="http://schemas.microsoft.com/office/drawing/2014/main" id="{AAAFB60B-A8E2-C004-3A08-445421BB42F2}"/>
              </a:ext>
            </a:extLst>
          </p:cNvPr>
          <p:cNvSpPr txBox="1"/>
          <p:nvPr/>
        </p:nvSpPr>
        <p:spPr>
          <a:xfrm>
            <a:off x="3754784" y="3257550"/>
            <a:ext cx="19087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Click and wait for Success Msg</a:t>
            </a:r>
            <a:endParaRPr/>
          </a:p>
        </p:txBody>
      </p:sp>
      <p:pic>
        <p:nvPicPr>
          <p:cNvPr id="13" name="Google Shape;285;p23" descr="image.png">
            <a:extLst>
              <a:ext uri="{FF2B5EF4-FFF2-40B4-BE49-F238E27FC236}">
                <a16:creationId xmlns:a16="http://schemas.microsoft.com/office/drawing/2014/main" id="{5811DEE2-10D2-6EAF-8F08-F77804E8D73E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349430" y="242887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86;p23">
            <a:extLst>
              <a:ext uri="{FF2B5EF4-FFF2-40B4-BE49-F238E27FC236}">
                <a16:creationId xmlns:a16="http://schemas.microsoft.com/office/drawing/2014/main" id="{99D9275A-E487-FA78-C8EC-29843CB3B0DC}"/>
              </a:ext>
            </a:extLst>
          </p:cNvPr>
          <p:cNvSpPr txBox="1"/>
          <p:nvPr/>
        </p:nvSpPr>
        <p:spPr>
          <a:xfrm>
            <a:off x="6480776" y="2828925"/>
            <a:ext cx="20041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Assertion</a:t>
            </a:r>
            <a:endParaRPr/>
          </a:p>
        </p:txBody>
      </p:sp>
      <p:sp>
        <p:nvSpPr>
          <p:cNvPr id="15" name="Google Shape;287;p23">
            <a:extLst>
              <a:ext uri="{FF2B5EF4-FFF2-40B4-BE49-F238E27FC236}">
                <a16:creationId xmlns:a16="http://schemas.microsoft.com/office/drawing/2014/main" id="{E4D6EA3E-E814-58FA-3E5C-DE3B8A8B7E06}"/>
              </a:ext>
            </a:extLst>
          </p:cNvPr>
          <p:cNvSpPr txBox="1"/>
          <p:nvPr/>
        </p:nvSpPr>
        <p:spPr>
          <a:xfrm>
            <a:off x="6528494" y="3257550"/>
            <a:ext cx="19087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Check Cart widget quantity</a:t>
            </a:r>
            <a:endParaRPr/>
          </a:p>
        </p:txBody>
      </p:sp>
      <p:pic>
        <p:nvPicPr>
          <p:cNvPr id="16" name="Google Shape;288;p23" descr="image.png">
            <a:extLst>
              <a:ext uri="{FF2B5EF4-FFF2-40B4-BE49-F238E27FC236}">
                <a16:creationId xmlns:a16="http://schemas.microsoft.com/office/drawing/2014/main" id="{EB5A7521-18E8-27D0-1DC8-5DFA92CE7E9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104090" y="2428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89;p23">
            <a:extLst>
              <a:ext uri="{FF2B5EF4-FFF2-40B4-BE49-F238E27FC236}">
                <a16:creationId xmlns:a16="http://schemas.microsoft.com/office/drawing/2014/main" id="{3B51B017-7CD8-F12C-1C7B-94EC1EBA441B}"/>
              </a:ext>
            </a:extLst>
          </p:cNvPr>
          <p:cNvSpPr txBox="1"/>
          <p:nvPr/>
        </p:nvSpPr>
        <p:spPr>
          <a:xfrm>
            <a:off x="9254486" y="2828925"/>
            <a:ext cx="20041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Teardown</a:t>
            </a:r>
            <a:endParaRPr/>
          </a:p>
        </p:txBody>
      </p:sp>
      <p:sp>
        <p:nvSpPr>
          <p:cNvPr id="18" name="Google Shape;290;p23">
            <a:extLst>
              <a:ext uri="{FF2B5EF4-FFF2-40B4-BE49-F238E27FC236}">
                <a16:creationId xmlns:a16="http://schemas.microsoft.com/office/drawing/2014/main" id="{56E43F0C-B981-0C6F-8259-9C93952E43FC}"/>
              </a:ext>
            </a:extLst>
          </p:cNvPr>
          <p:cNvSpPr txBox="1"/>
          <p:nvPr/>
        </p:nvSpPr>
        <p:spPr>
          <a:xfrm>
            <a:off x="9302204" y="3257550"/>
            <a:ext cx="19087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Close Driver session</a:t>
            </a:r>
            <a:endParaRPr/>
          </a:p>
        </p:txBody>
      </p:sp>
      <p:pic>
        <p:nvPicPr>
          <p:cNvPr id="19" name="Google Shape;334;p25" descr="image.png">
            <a:extLst>
              <a:ext uri="{FF2B5EF4-FFF2-40B4-BE49-F238E27FC236}">
                <a16:creationId xmlns:a16="http://schemas.microsoft.com/office/drawing/2014/main" id="{9EC3D1B5-0C3E-7F6E-7D8F-D8F0B9C6E37B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5" descr="image.png"/>
          <p:cNvPicPr preferRelativeResize="0"/>
          <p:nvPr/>
        </p:nvPicPr>
        <p:blipFill rotWithShape="1">
          <a:blip r:embed="rId4">
            <a:alphaModFix/>
          </a:blip>
          <a:srcRect l="97227"/>
          <a:stretch/>
        </p:blipFill>
        <p:spPr>
          <a:xfrm>
            <a:off x="0" y="6004215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/>
        </p:nvSpPr>
        <p:spPr>
          <a:xfrm>
            <a:off x="495300" y="1915566"/>
            <a:ext cx="112014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495300" y="4119562"/>
            <a:ext cx="11201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762000" y="4668142"/>
            <a:ext cx="10668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Ayman • Abdelrahman • Salma • Maryam</a:t>
            </a:r>
            <a:endParaRPr dirty="0"/>
          </a:p>
        </p:txBody>
      </p:sp>
      <p:sp>
        <p:nvSpPr>
          <p:cNvPr id="338" name="Google Shape;338;p25"/>
          <p:cNvSpPr txBox="1"/>
          <p:nvPr/>
        </p:nvSpPr>
        <p:spPr>
          <a:xfrm>
            <a:off x="3848099" y="2534691"/>
            <a:ext cx="469738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Manual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foundation of product understanding.</a:t>
            </a:r>
            <a:endParaRPr dirty="0"/>
          </a:p>
        </p:txBody>
      </p:sp>
      <p:sp>
        <p:nvSpPr>
          <p:cNvPr id="339" name="Google Shape;339;p25"/>
          <p:cNvSpPr txBox="1"/>
          <p:nvPr/>
        </p:nvSpPr>
        <p:spPr>
          <a:xfrm>
            <a:off x="3848100" y="2999482"/>
            <a:ext cx="469738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Automation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scales quality and speed (Regression).</a:t>
            </a:r>
            <a:endParaRPr dirty="0"/>
          </a:p>
        </p:txBody>
      </p:sp>
      <p:sp>
        <p:nvSpPr>
          <p:cNvPr id="340" name="Google Shape;340;p25"/>
          <p:cNvSpPr txBox="1"/>
          <p:nvPr/>
        </p:nvSpPr>
        <p:spPr>
          <a:xfrm>
            <a:off x="3848100" y="3464272"/>
            <a:ext cx="515458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Framework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modularity (POM) is critical for maintenance.</a:t>
            </a:r>
            <a:endParaRPr dirty="0"/>
          </a:p>
        </p:txBody>
      </p:sp>
      <p:pic>
        <p:nvPicPr>
          <p:cNvPr id="341" name="Google Shape;34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8100" y="2591841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48100" y="305663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48100" y="3521422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Widescreen</PresentationFormat>
  <Paragraphs>118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Lato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Ayman Dollar</dc:creator>
  <cp:lastModifiedBy>Ayman Dollar</cp:lastModifiedBy>
  <cp:revision>1</cp:revision>
  <dcterms:modified xsi:type="dcterms:W3CDTF">2026-05-21T03:27:48Z</dcterms:modified>
</cp:coreProperties>
</file>